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embeddedFontLst>
    <p:embeddedFont>
      <p:font typeface="Alexandria" panose="020B0604020202020204" charset="-78"/>
      <p:regular r:id="rId7"/>
    </p:embeddedFont>
    <p:embeddedFont>
      <p:font typeface="Nobile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610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Frequent Itemset Mining: Basic Concepts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Discovering patterns in transactional data through frequency analysis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7833"/>
            <a:ext cx="6200061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00" dirty="0"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What is Frequent Itemset Mining?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93791" y="149739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Definition</a:t>
            </a:r>
            <a:endParaRPr lang="en-US" sz="2000" b="1" dirty="0"/>
          </a:p>
        </p:txBody>
      </p:sp>
      <p:sp>
        <p:nvSpPr>
          <p:cNvPr id="4" name="Text 2"/>
          <p:cNvSpPr/>
          <p:nvPr/>
        </p:nvSpPr>
        <p:spPr>
          <a:xfrm>
            <a:off x="793789" y="1823027"/>
            <a:ext cx="6200061" cy="77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latin typeface="Nobile" pitchFamily="34" charset="0"/>
                <a:ea typeface="Nobile" pitchFamily="34" charset="-122"/>
                <a:cs typeface="Nobile" pitchFamily="34" charset="-120"/>
              </a:rPr>
              <a:t>A data mining technique that discovers sets of items appearing together frequently in transactional datasets. Primarily used for pattern discovery and association rule learning.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3789" y="309157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Core Goal</a:t>
            </a:r>
            <a:endParaRPr lang="en-US" sz="2000" b="1" dirty="0"/>
          </a:p>
        </p:txBody>
      </p:sp>
      <p:sp>
        <p:nvSpPr>
          <p:cNvPr id="6" name="Text 4"/>
          <p:cNvSpPr/>
          <p:nvPr/>
        </p:nvSpPr>
        <p:spPr>
          <a:xfrm>
            <a:off x="793791" y="3361791"/>
            <a:ext cx="6200060" cy="790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latin typeface="Nobile" pitchFamily="34" charset="0"/>
                <a:ea typeface="Nobile" pitchFamily="34" charset="-122"/>
                <a:cs typeface="Nobile" pitchFamily="34" charset="-120"/>
              </a:rPr>
              <a:t>Identify item combinations whose occurrence frequency (support) meets or exceeds a user-defined minimum support threshold.</a:t>
            </a: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508" y="815698"/>
            <a:ext cx="5428655" cy="30299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3789" y="4715470"/>
            <a:ext cx="6473547" cy="1330285"/>
          </a:xfrm>
          <a:prstGeom prst="roundRect">
            <a:avLst>
              <a:gd name="adj" fmla="val 465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48809" y="4870490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1B54D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372" y="4992053"/>
            <a:ext cx="198953" cy="19895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8809" y="540841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48809" y="5696188"/>
            <a:ext cx="616350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latin typeface="Nobile" pitchFamily="34" charset="0"/>
                <a:ea typeface="Nobile" pitchFamily="34" charset="-122"/>
                <a:cs typeface="Nobile" pitchFamily="34" charset="-120"/>
              </a:rPr>
              <a:t>Collection of multiple transactions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363063" y="4715470"/>
            <a:ext cx="6473547" cy="1330285"/>
          </a:xfrm>
          <a:prstGeom prst="roundRect">
            <a:avLst>
              <a:gd name="adj" fmla="val 465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518083" y="4870490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1B54D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39645" y="4992053"/>
            <a:ext cx="198953" cy="19895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18083" y="540841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Transaction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518083" y="5696188"/>
            <a:ext cx="616350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latin typeface="Nobile" pitchFamily="34" charset="0"/>
                <a:ea typeface="Nobile" pitchFamily="34" charset="-122"/>
                <a:cs typeface="Nobile" pitchFamily="34" charset="-120"/>
              </a:rPr>
              <a:t>Record containing a set of items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93790" y="6141482"/>
            <a:ext cx="6473547" cy="1330285"/>
          </a:xfrm>
          <a:prstGeom prst="roundRect">
            <a:avLst>
              <a:gd name="adj" fmla="val 465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48809" y="6296501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1B54D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0372" y="6418064"/>
            <a:ext cx="198953" cy="19895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8809" y="683442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latin typeface="Alexandria" pitchFamily="34" charset="0"/>
                <a:ea typeface="Alexandria" pitchFamily="34" charset="-122"/>
                <a:cs typeface="Alexandria" pitchFamily="34" charset="-120"/>
              </a:rPr>
              <a:t>Item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48809" y="7122200"/>
            <a:ext cx="616350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latin typeface="Nobile" pitchFamily="34" charset="0"/>
                <a:ea typeface="Nobile" pitchFamily="34" charset="-122"/>
                <a:cs typeface="Nobile" pitchFamily="34" charset="-120"/>
              </a:rPr>
              <a:t>Single object (e.g., milk, bread)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7363063" y="6141482"/>
            <a:ext cx="6473547" cy="1330285"/>
          </a:xfrm>
          <a:prstGeom prst="roundRect">
            <a:avLst>
              <a:gd name="adj" fmla="val 465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518083" y="6296501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1B54DA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39645" y="6418064"/>
            <a:ext cx="198953" cy="19895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18083" y="683442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latin typeface="Alexandria" pitchFamily="34" charset="0"/>
                <a:ea typeface="Alexandria" pitchFamily="34" charset="-122"/>
                <a:cs typeface="Alexandria" pitchFamily="34" charset="-120"/>
              </a:rPr>
              <a:t>Itemset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7518083" y="7122200"/>
            <a:ext cx="616350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latin typeface="Nobile" pitchFamily="34" charset="0"/>
                <a:ea typeface="Nobile" pitchFamily="34" charset="-122"/>
                <a:cs typeface="Nobile" pitchFamily="34" charset="-120"/>
              </a:rPr>
              <a:t>Collection of one or more items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8906"/>
            <a:ext cx="504515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Support: The Key Metric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93790" y="1555671"/>
            <a:ext cx="4262557" cy="1442323"/>
          </a:xfrm>
          <a:prstGeom prst="roundRect">
            <a:avLst>
              <a:gd name="adj" fmla="val 760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1555671"/>
            <a:ext cx="91440" cy="1442323"/>
          </a:xfrm>
          <a:prstGeom prst="roundRect">
            <a:avLst>
              <a:gd name="adj" fmla="val 78140"/>
            </a:avLst>
          </a:prstGeom>
          <a:solidFill>
            <a:srgbClr val="1B54DA"/>
          </a:solidFill>
          <a:ln/>
        </p:spPr>
      </p:sp>
      <p:sp>
        <p:nvSpPr>
          <p:cNvPr id="5" name="Text 3"/>
          <p:cNvSpPr/>
          <p:nvPr/>
        </p:nvSpPr>
        <p:spPr>
          <a:xfrm>
            <a:off x="1055251" y="174855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Support Formula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55251" y="2090738"/>
            <a:ext cx="380821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Support(X) = (Number of transactions containing X) / (Total number of transactions)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83862" y="1555671"/>
            <a:ext cx="4262557" cy="1442323"/>
          </a:xfrm>
          <a:prstGeom prst="roundRect">
            <a:avLst>
              <a:gd name="adj" fmla="val 760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61002" y="1555671"/>
            <a:ext cx="91440" cy="1442323"/>
          </a:xfrm>
          <a:prstGeom prst="roundRect">
            <a:avLst>
              <a:gd name="adj" fmla="val 78140"/>
            </a:avLst>
          </a:prstGeom>
          <a:solidFill>
            <a:srgbClr val="1B54DA"/>
          </a:solidFill>
          <a:ln/>
        </p:spPr>
      </p:sp>
      <p:sp>
        <p:nvSpPr>
          <p:cNvPr id="9" name="Text 7"/>
          <p:cNvSpPr/>
          <p:nvPr/>
        </p:nvSpPr>
        <p:spPr>
          <a:xfrm>
            <a:off x="5445323" y="174855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Interpretation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445323" y="2090738"/>
            <a:ext cx="380821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Measures how frequently an itemset appears in the dataset. Higher support means more common patterns.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73935" y="1555671"/>
            <a:ext cx="4262557" cy="1442323"/>
          </a:xfrm>
          <a:prstGeom prst="roundRect">
            <a:avLst>
              <a:gd name="adj" fmla="val 760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51075" y="1555671"/>
            <a:ext cx="91440" cy="1442323"/>
          </a:xfrm>
          <a:prstGeom prst="roundRect">
            <a:avLst>
              <a:gd name="adj" fmla="val 78140"/>
            </a:avLst>
          </a:prstGeom>
          <a:solidFill>
            <a:srgbClr val="1B54DA"/>
          </a:solidFill>
          <a:ln/>
        </p:spPr>
      </p:sp>
      <p:sp>
        <p:nvSpPr>
          <p:cNvPr id="13" name="Text 11"/>
          <p:cNvSpPr/>
          <p:nvPr/>
        </p:nvSpPr>
        <p:spPr>
          <a:xfrm>
            <a:off x="9835396" y="174855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Frequent Itemset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835396" y="2090738"/>
            <a:ext cx="380821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If an itemset's support ≥ minimum threshold, it is considered frequent and meaningful.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3790" y="3189327"/>
            <a:ext cx="350400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Example Calculation</a:t>
            </a:r>
            <a:endParaRPr lang="en-US" sz="2650" dirty="0"/>
          </a:p>
        </p:txBody>
      </p:sp>
      <p:sp>
        <p:nvSpPr>
          <p:cNvPr id="16" name="Shape 14"/>
          <p:cNvSpPr/>
          <p:nvPr/>
        </p:nvSpPr>
        <p:spPr>
          <a:xfrm>
            <a:off x="793790" y="3805952"/>
            <a:ext cx="13042821" cy="2046446"/>
          </a:xfrm>
          <a:prstGeom prst="roundRect">
            <a:avLst>
              <a:gd name="adj" fmla="val 34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410" y="3813572"/>
            <a:ext cx="13027581" cy="406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" y="3897630"/>
            <a:ext cx="291298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32196" y="3897630"/>
            <a:ext cx="942677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Items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1410" y="4219813"/>
            <a:ext cx="13027581" cy="4062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" y="4303871"/>
            <a:ext cx="291298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32196" y="4303871"/>
            <a:ext cx="942677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Milk, Bread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1410" y="4626054"/>
            <a:ext cx="13027581" cy="406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71550" y="4710113"/>
            <a:ext cx="291298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32196" y="4710113"/>
            <a:ext cx="942677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Milk, Butter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1410" y="5032296"/>
            <a:ext cx="13027581" cy="4062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" y="5116354"/>
            <a:ext cx="291298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32196" y="5116354"/>
            <a:ext cx="942677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Milk, Bread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1410" y="5438537"/>
            <a:ext cx="13027581" cy="406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71550" y="5522595"/>
            <a:ext cx="291298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32196" y="5522595"/>
            <a:ext cx="942677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Bread, Butter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93790" y="612338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Individual Items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78551" y="6542127"/>
            <a:ext cx="6313884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Support(Milk) = 3/4 = 0.75</a:t>
            </a:r>
            <a:endParaRPr lang="en-US" sz="16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Support(Bread) = 3/4 = 0.75</a:t>
            </a:r>
            <a:endParaRPr lang="en-US" sz="16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Support(Butter) = 2/4 = 0.50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30346" y="612338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Itemset Example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515107" y="6516648"/>
            <a:ext cx="63138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Support(Milk, Bread) = 2/4 = 0.50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15107" y="6869549"/>
            <a:ext cx="63138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With 50% minimum support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frequent itemsets include {Milk}, {Bread}, {Butter}, and {Milk, Bread}.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4627"/>
            <a:ext cx="837640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Apriori Principle &amp; Applications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1907381"/>
            <a:ext cx="13042821" cy="1763792"/>
          </a:xfrm>
          <a:prstGeom prst="roundRect">
            <a:avLst>
              <a:gd name="adj" fmla="val 5131"/>
            </a:avLst>
          </a:prstGeom>
          <a:solidFill>
            <a:srgbClr val="BBCD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74" y="2189202"/>
            <a:ext cx="336590" cy="2693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61148" y="2165866"/>
            <a:ext cx="443055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Principle: Downward Closure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561148" y="2707124"/>
            <a:ext cx="12060079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If an itemset is frequent, </a:t>
            </a:r>
            <a:r>
              <a:rPr lang="en-US" sz="16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of its subsets must also be frequent</a:t>
            </a:r>
            <a:r>
              <a:rPr lang="en-US" sz="16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This property enables efficient pruning in algorithms.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3901440"/>
            <a:ext cx="538639" cy="5386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88294" y="3901440"/>
            <a:ext cx="306466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Market Basket Analysis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588294" y="4360783"/>
            <a:ext cx="3382447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Identifies products frequently bought together, helping retailers optimize product placement and promotions.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26606" y="3901440"/>
            <a:ext cx="538639" cy="53863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21110" y="3901440"/>
            <a:ext cx="3382566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Recommendation Systems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6021110" y="4697373"/>
            <a:ext cx="3382566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Enables e-commerce platforms to suggest relevant products based on co-occurrence patterns in purchase history.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59541" y="3901440"/>
            <a:ext cx="538639" cy="5386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54045" y="390144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Web Usage Mining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10454045" y="4360783"/>
            <a:ext cx="3382566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Analyzes user navigation patterns to understand behavior and improve website structure and content organization.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116925" y="6502360"/>
            <a:ext cx="12719685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Conclusion:</a:t>
            </a: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Frequent Itemset Mining uncovers hidden patterns in large datasets, enabling better decision-making across business and technology applications.</a:t>
            </a:r>
            <a:endParaRPr lang="en-US" sz="1650" dirty="0"/>
          </a:p>
        </p:txBody>
      </p:sp>
      <p:sp>
        <p:nvSpPr>
          <p:cNvPr id="17" name="Shape 11"/>
          <p:cNvSpPr/>
          <p:nvPr/>
        </p:nvSpPr>
        <p:spPr>
          <a:xfrm>
            <a:off x="793790" y="6272093"/>
            <a:ext cx="30480" cy="1132761"/>
          </a:xfrm>
          <a:prstGeom prst="rect">
            <a:avLst/>
          </a:prstGeom>
          <a:solidFill>
            <a:srgbClr val="1B54D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350</Words>
  <Application>Microsoft Office PowerPoint</Application>
  <PresentationFormat>Custom</PresentationFormat>
  <Paragraphs>54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Alexandria</vt:lpstr>
      <vt:lpstr>Nobile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Sami Hassan</dc:creator>
  <cp:lastModifiedBy>Sami Hassan</cp:lastModifiedBy>
  <cp:revision>2</cp:revision>
  <dcterms:created xsi:type="dcterms:W3CDTF">2026-03-29T18:17:59Z</dcterms:created>
  <dcterms:modified xsi:type="dcterms:W3CDTF">2026-03-29T18:23:45Z</dcterms:modified>
</cp:coreProperties>
</file>